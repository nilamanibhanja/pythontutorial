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DM San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1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84858"/>
            <a:ext cx="8049460" cy="8049460"/>
          </a:xfrm>
          <a:custGeom>
            <a:avLst/>
            <a:gdLst/>
            <a:ahLst/>
            <a:cxnLst/>
            <a:rect r="r" b="b" t="t" l="l"/>
            <a:pathLst>
              <a:path h="8049460" w="8049460">
                <a:moveTo>
                  <a:pt x="0" y="0"/>
                </a:moveTo>
                <a:lnTo>
                  <a:pt x="8049460" y="0"/>
                </a:lnTo>
                <a:lnTo>
                  <a:pt x="8049460" y="8049460"/>
                </a:lnTo>
                <a:lnTo>
                  <a:pt x="0" y="8049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69739" y="2322480"/>
            <a:ext cx="6052875" cy="6052851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-2153" r="0" b="-215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609065" y="3043589"/>
            <a:ext cx="6650235" cy="4134644"/>
            <a:chOff x="0" y="0"/>
            <a:chExt cx="8866980" cy="551285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8866980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20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</a:t>
              </a:r>
              <a:r>
                <a:rPr lang="en-US" sz="6999" spc="-20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ntroduction to C# &amp; .NET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6175" y="3382420"/>
              <a:ext cx="8820805" cy="682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</a:pPr>
              <a:r>
                <a:rPr lang="en-US" sz="32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 Developer’s Guide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051213"/>
              <a:ext cx="8866980" cy="461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7"/>
                </a:lnSpc>
              </a:pPr>
              <a:r>
                <a:rPr lang="en-US" sz="217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Build Mod</a:t>
              </a:r>
              <a:r>
                <a:rPr lang="en-US" sz="217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ern, Fast &amp; Scalable Applications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0" y="4453925"/>
              <a:ext cx="8866980" cy="0"/>
            </a:xfrm>
            <a:prstGeom prst="line">
              <a:avLst/>
            </a:prstGeom>
            <a:ln cap="rnd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762872" y="9394746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1882" y="142542"/>
            <a:ext cx="15491603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4800" spc="-14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What's New &amp; Agenda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36321" y="2210733"/>
            <a:ext cx="627907" cy="629050"/>
          </a:xfrm>
          <a:custGeom>
            <a:avLst/>
            <a:gdLst/>
            <a:ahLst/>
            <a:cxnLst/>
            <a:rect r="r" b="b" t="t" l="l"/>
            <a:pathLst>
              <a:path h="629050" w="627907">
                <a:moveTo>
                  <a:pt x="0" y="0"/>
                </a:moveTo>
                <a:lnTo>
                  <a:pt x="627907" y="0"/>
                </a:lnTo>
                <a:lnTo>
                  <a:pt x="627907" y="629051"/>
                </a:lnTo>
                <a:lnTo>
                  <a:pt x="0" y="629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64" r="0" b="-66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6321" y="3404888"/>
            <a:ext cx="627907" cy="629050"/>
          </a:xfrm>
          <a:custGeom>
            <a:avLst/>
            <a:gdLst/>
            <a:ahLst/>
            <a:cxnLst/>
            <a:rect r="r" b="b" t="t" l="l"/>
            <a:pathLst>
              <a:path h="629050" w="627907">
                <a:moveTo>
                  <a:pt x="0" y="0"/>
                </a:moveTo>
                <a:lnTo>
                  <a:pt x="627907" y="0"/>
                </a:lnTo>
                <a:lnTo>
                  <a:pt x="627907" y="629050"/>
                </a:lnTo>
                <a:lnTo>
                  <a:pt x="0" y="629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64" r="0" b="-66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9635" y="2146163"/>
            <a:ext cx="4886735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is C#?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9635" y="3340318"/>
            <a:ext cx="8278281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is.NET 10 (and why LTS matters)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36321" y="4595913"/>
            <a:ext cx="627907" cy="629050"/>
          </a:xfrm>
          <a:custGeom>
            <a:avLst/>
            <a:gdLst/>
            <a:ahLst/>
            <a:cxnLst/>
            <a:rect r="r" b="b" t="t" l="l"/>
            <a:pathLst>
              <a:path h="629050" w="627907">
                <a:moveTo>
                  <a:pt x="0" y="0"/>
                </a:moveTo>
                <a:lnTo>
                  <a:pt x="627907" y="0"/>
                </a:lnTo>
                <a:lnTo>
                  <a:pt x="627907" y="629050"/>
                </a:lnTo>
                <a:lnTo>
                  <a:pt x="0" y="629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64" r="0" b="-66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36321" y="5790068"/>
            <a:ext cx="627907" cy="629050"/>
          </a:xfrm>
          <a:custGeom>
            <a:avLst/>
            <a:gdLst/>
            <a:ahLst/>
            <a:cxnLst/>
            <a:rect r="r" b="b" t="t" l="l"/>
            <a:pathLst>
              <a:path h="629050" w="627907">
                <a:moveTo>
                  <a:pt x="0" y="0"/>
                </a:moveTo>
                <a:lnTo>
                  <a:pt x="627907" y="0"/>
                </a:lnTo>
                <a:lnTo>
                  <a:pt x="627907" y="629050"/>
                </a:lnTo>
                <a:lnTo>
                  <a:pt x="0" y="629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64" r="0" b="-66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49635" y="4531343"/>
            <a:ext cx="9919848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Where you use it: Web, APIs, Desktop/Cloud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9635" y="5725498"/>
            <a:ext cx="8523799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What’s new in C# 14 (6 practical wins)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36321" y="6981093"/>
            <a:ext cx="627907" cy="629050"/>
          </a:xfrm>
          <a:custGeom>
            <a:avLst/>
            <a:gdLst/>
            <a:ahLst/>
            <a:cxnLst/>
            <a:rect r="r" b="b" t="t" l="l"/>
            <a:pathLst>
              <a:path h="629050" w="627907">
                <a:moveTo>
                  <a:pt x="0" y="0"/>
                </a:moveTo>
                <a:lnTo>
                  <a:pt x="627907" y="0"/>
                </a:lnTo>
                <a:lnTo>
                  <a:pt x="627907" y="629050"/>
                </a:lnTo>
                <a:lnTo>
                  <a:pt x="0" y="629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64" r="0" b="-66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36321" y="8175248"/>
            <a:ext cx="627907" cy="629050"/>
          </a:xfrm>
          <a:custGeom>
            <a:avLst/>
            <a:gdLst/>
            <a:ahLst/>
            <a:cxnLst/>
            <a:rect r="r" b="b" t="t" l="l"/>
            <a:pathLst>
              <a:path h="629050" w="627907">
                <a:moveTo>
                  <a:pt x="0" y="0"/>
                </a:moveTo>
                <a:lnTo>
                  <a:pt x="627907" y="0"/>
                </a:lnTo>
                <a:lnTo>
                  <a:pt x="627907" y="629050"/>
                </a:lnTo>
                <a:lnTo>
                  <a:pt x="0" y="629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64" r="0" b="-666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49635" y="6916523"/>
            <a:ext cx="4886735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terview Q&amp;A + tips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9635" y="8110678"/>
            <a:ext cx="604407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Career</a:t>
            </a: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64319" y="120672"/>
            <a:ext cx="6980872" cy="10094919"/>
            <a:chOff x="0" y="0"/>
            <a:chExt cx="9307830" cy="13459892"/>
          </a:xfrm>
        </p:grpSpPr>
        <p:sp>
          <p:nvSpPr>
            <p:cNvPr name="Freeform 3" id="3"/>
            <p:cNvSpPr/>
            <p:nvPr/>
          </p:nvSpPr>
          <p:spPr>
            <a:xfrm flipH="false" flipV="false" rot="-6000">
              <a:off x="-11240" y="-7613"/>
              <a:ext cx="9330182" cy="13475195"/>
            </a:xfrm>
            <a:custGeom>
              <a:avLst/>
              <a:gdLst/>
              <a:ahLst/>
              <a:cxnLst/>
              <a:rect r="r" b="b" t="t" l="l"/>
              <a:pathLst>
                <a:path h="13475195" w="9330182">
                  <a:moveTo>
                    <a:pt x="309378" y="1"/>
                  </a:moveTo>
                  <a:lnTo>
                    <a:pt x="9044424" y="15246"/>
                  </a:lnTo>
                  <a:cubicBezTo>
                    <a:pt x="9120370" y="15379"/>
                    <a:pt x="9193088" y="45732"/>
                    <a:pt x="9246715" y="99419"/>
                  </a:cubicBezTo>
                  <a:cubicBezTo>
                    <a:pt x="9300343" y="153107"/>
                    <a:pt x="9330314" y="226057"/>
                    <a:pt x="9330182" y="302003"/>
                  </a:cubicBezTo>
                  <a:lnTo>
                    <a:pt x="9307689" y="13189309"/>
                  </a:lnTo>
                  <a:cubicBezTo>
                    <a:pt x="9307413" y="13347423"/>
                    <a:pt x="9179047" y="13475471"/>
                    <a:pt x="9020805" y="13475195"/>
                  </a:cubicBezTo>
                  <a:lnTo>
                    <a:pt x="285886" y="13459949"/>
                  </a:lnTo>
                  <a:cubicBezTo>
                    <a:pt x="127771" y="13459673"/>
                    <a:pt x="-275" y="13331305"/>
                    <a:pt x="1" y="13173064"/>
                  </a:cubicBezTo>
                  <a:lnTo>
                    <a:pt x="22493" y="285885"/>
                  </a:lnTo>
                  <a:cubicBezTo>
                    <a:pt x="22626" y="209939"/>
                    <a:pt x="52979" y="137094"/>
                    <a:pt x="106667" y="83467"/>
                  </a:cubicBezTo>
                  <a:cubicBezTo>
                    <a:pt x="160354" y="29840"/>
                    <a:pt x="233432" y="-132"/>
                    <a:pt x="309378" y="1"/>
                  </a:cubicBezTo>
                  <a:close/>
                </a:path>
              </a:pathLst>
            </a:custGeom>
            <a:blipFill>
              <a:blip r:embed="rId2"/>
              <a:stretch>
                <a:fillRect l="-127423" t="-6192" r="-21832" b="-879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27808" y="597513"/>
            <a:ext cx="7290006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is C#?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1261" y="1559907"/>
            <a:ext cx="9952040" cy="302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2" indent="-345441" lvl="1">
              <a:lnSpc>
                <a:spcPts val="6112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Modern, type-safe, object-oriented (and functional) language from Microsoft</a:t>
            </a:r>
          </a:p>
          <a:p>
            <a:pPr algn="l" marL="690882" indent="-345441" lvl="1">
              <a:lnSpc>
                <a:spcPts val="6112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Great tooling, huge ecosystem</a:t>
            </a:r>
          </a:p>
          <a:p>
            <a:pPr algn="l" marL="690882" indent="-345441" lvl="1">
              <a:lnSpc>
                <a:spcPts val="6112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Used for building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64319" y="120672"/>
            <a:ext cx="6980872" cy="10094919"/>
            <a:chOff x="0" y="0"/>
            <a:chExt cx="9307830" cy="13459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07702" cy="13459969"/>
            </a:xfrm>
            <a:custGeom>
              <a:avLst/>
              <a:gdLst/>
              <a:ahLst/>
              <a:cxnLst/>
              <a:rect r="r" b="b" t="t" l="l"/>
              <a:pathLst>
                <a:path h="13459969" w="9307702">
                  <a:moveTo>
                    <a:pt x="286385" y="0"/>
                  </a:moveTo>
                  <a:lnTo>
                    <a:pt x="9021445" y="0"/>
                  </a:lnTo>
                  <a:cubicBezTo>
                    <a:pt x="9097390" y="0"/>
                    <a:pt x="9170162" y="30226"/>
                    <a:pt x="9223883" y="83820"/>
                  </a:cubicBezTo>
                  <a:cubicBezTo>
                    <a:pt x="9277603" y="137414"/>
                    <a:pt x="9307702" y="210312"/>
                    <a:pt x="9307702" y="286258"/>
                  </a:cubicBezTo>
                  <a:lnTo>
                    <a:pt x="9307702" y="13173583"/>
                  </a:lnTo>
                  <a:cubicBezTo>
                    <a:pt x="9307702" y="13331698"/>
                    <a:pt x="9179560" y="13459969"/>
                    <a:pt x="9021318" y="13459969"/>
                  </a:cubicBezTo>
                  <a:lnTo>
                    <a:pt x="286385" y="13459969"/>
                  </a:lnTo>
                  <a:cubicBezTo>
                    <a:pt x="128270" y="13459969"/>
                    <a:pt x="0" y="13331825"/>
                    <a:pt x="0" y="13173583"/>
                  </a:cubicBezTo>
                  <a:lnTo>
                    <a:pt x="0" y="286385"/>
                  </a:lnTo>
                  <a:cubicBezTo>
                    <a:pt x="0" y="210439"/>
                    <a:pt x="30226" y="137541"/>
                    <a:pt x="83820" y="83820"/>
                  </a:cubicBezTo>
                  <a:cubicBezTo>
                    <a:pt x="137414" y="30099"/>
                    <a:pt x="210439" y="0"/>
                    <a:pt x="286385" y="0"/>
                  </a:cubicBezTo>
                  <a:close/>
                </a:path>
              </a:pathLst>
            </a:custGeom>
            <a:blipFill>
              <a:blip r:embed="rId2"/>
              <a:stretch>
                <a:fillRect l="-28591" t="0" r="-2859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489918" y="265190"/>
            <a:ext cx="3675489" cy="367548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-600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7109" y="1"/>
                  </a:moveTo>
                  <a:cubicBezTo>
                    <a:pt x="182661" y="-391"/>
                    <a:pt x="392" y="181243"/>
                    <a:pt x="1" y="405691"/>
                  </a:cubicBezTo>
                  <a:cubicBezTo>
                    <a:pt x="-391" y="630139"/>
                    <a:pt x="181243" y="812408"/>
                    <a:pt x="405691" y="812799"/>
                  </a:cubicBezTo>
                  <a:cubicBezTo>
                    <a:pt x="630139" y="813191"/>
                    <a:pt x="812408" y="631557"/>
                    <a:pt x="812799" y="407109"/>
                  </a:cubicBezTo>
                  <a:cubicBezTo>
                    <a:pt x="813191" y="182661"/>
                    <a:pt x="631557" y="392"/>
                    <a:pt x="407109" y="1"/>
                  </a:cubicBezTo>
                  <a:close/>
                </a:path>
              </a:pathLst>
            </a:custGeom>
            <a:blipFill>
              <a:blip r:embed="rId3"/>
              <a:stretch>
                <a:fillRect l="-8847" t="-72043" r="-284926" b="-9047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27808" y="597513"/>
            <a:ext cx="447302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is .NET?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914" y="1732692"/>
            <a:ext cx="9589141" cy="502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4004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Development platform/framework</a:t>
            </a:r>
          </a:p>
          <a:p>
            <a:pPr algn="l" marL="561344" indent="-280672" lvl="1">
              <a:lnSpc>
                <a:spcPts val="4004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Provides runtime &amp; libraries</a:t>
            </a:r>
          </a:p>
          <a:p>
            <a:pPr algn="l" marL="561344" indent="-280672" lvl="1">
              <a:lnSpc>
                <a:spcPts val="4004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Supports multiple languages</a:t>
            </a:r>
          </a:p>
          <a:p>
            <a:pPr algn="l" marL="561344" indent="-280672" lvl="1">
              <a:lnSpc>
                <a:spcPts val="4004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Cross-platform (Windows, Linux, Mac)</a:t>
            </a:r>
          </a:p>
          <a:p>
            <a:pPr algn="l" marL="561344" indent="-280672" lvl="1">
              <a:lnSpc>
                <a:spcPts val="4004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Unified platform for apps &amp; services (web, desktop, mobile, cloud, IoT)</a:t>
            </a:r>
          </a:p>
          <a:p>
            <a:pPr algn="l" marL="561344" indent="-280672" lvl="1">
              <a:lnSpc>
                <a:spcPts val="4004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LTS support till 2028</a:t>
            </a:r>
          </a:p>
          <a:p>
            <a:pPr algn="l" marL="561344" indent="-280672" lvl="1">
              <a:lnSpc>
                <a:spcPts val="4004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Big focus: performance, cloud-native, AI-assisted tooling, simpler start </a:t>
            </a:r>
          </a:p>
          <a:p>
            <a:pPr algn="l">
              <a:lnSpc>
                <a:spcPts val="40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42914" y="6612874"/>
            <a:ext cx="10354714" cy="16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.NET 10 is a Long-Term Support (LTS) release that ensures stability and longevity for applications. It is designed to be cross-platform, enabling developers to build applications on various operating systems. With its high performance, .NET 10 is optimized for speed and efficiency, making it a powerful tool for modern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01514" y="-36233"/>
            <a:ext cx="6786543" cy="10323271"/>
          </a:xfrm>
          <a:custGeom>
            <a:avLst/>
            <a:gdLst/>
            <a:ahLst/>
            <a:cxnLst/>
            <a:rect r="r" b="b" t="t" l="l"/>
            <a:pathLst>
              <a:path h="10323271" w="6786543">
                <a:moveTo>
                  <a:pt x="0" y="0"/>
                </a:moveTo>
                <a:lnTo>
                  <a:pt x="6786543" y="0"/>
                </a:lnTo>
                <a:lnTo>
                  <a:pt x="6786543" y="10323271"/>
                </a:lnTo>
                <a:lnTo>
                  <a:pt x="0" y="10323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53139" y="1147391"/>
            <a:ext cx="3372450" cy="7261793"/>
            <a:chOff x="0" y="0"/>
            <a:chExt cx="4496600" cy="96823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6689" cy="9682353"/>
            </a:xfrm>
            <a:custGeom>
              <a:avLst/>
              <a:gdLst/>
              <a:ahLst/>
              <a:cxnLst/>
              <a:rect r="r" b="b" t="t" l="l"/>
              <a:pathLst>
                <a:path h="9682353" w="4496689">
                  <a:moveTo>
                    <a:pt x="3913759" y="9682353"/>
                  </a:moveTo>
                  <a:lnTo>
                    <a:pt x="590550" y="9682353"/>
                  </a:lnTo>
                  <a:cubicBezTo>
                    <a:pt x="264414" y="9682353"/>
                    <a:pt x="0" y="9417939"/>
                    <a:pt x="0" y="9091803"/>
                  </a:cubicBezTo>
                  <a:lnTo>
                    <a:pt x="0" y="569722"/>
                  </a:lnTo>
                  <a:cubicBezTo>
                    <a:pt x="0" y="255016"/>
                    <a:pt x="255016" y="0"/>
                    <a:pt x="569722" y="0"/>
                  </a:cubicBezTo>
                  <a:lnTo>
                    <a:pt x="3939159" y="0"/>
                  </a:lnTo>
                  <a:cubicBezTo>
                    <a:pt x="4247007" y="0"/>
                    <a:pt x="4496689" y="249555"/>
                    <a:pt x="4496689" y="557530"/>
                  </a:cubicBezTo>
                  <a:lnTo>
                    <a:pt x="4496689" y="9099550"/>
                  </a:lnTo>
                  <a:cubicBezTo>
                    <a:pt x="4496689" y="9421368"/>
                    <a:pt x="4235704" y="9682353"/>
                    <a:pt x="3913886" y="9682353"/>
                  </a:cubicBezTo>
                  <a:close/>
                </a:path>
              </a:pathLst>
            </a:custGeom>
            <a:blipFill>
              <a:blip r:embed="rId4"/>
              <a:stretch>
                <a:fillRect l="-2952" t="0" r="-295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994900" y="1028700"/>
            <a:ext cx="3699615" cy="7499223"/>
            <a:chOff x="0" y="0"/>
            <a:chExt cx="4932820" cy="99989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32807" cy="9998964"/>
            </a:xfrm>
            <a:custGeom>
              <a:avLst/>
              <a:gdLst/>
              <a:ahLst/>
              <a:cxnLst/>
              <a:rect r="r" b="b" t="t" l="l"/>
              <a:pathLst>
                <a:path h="9998964" w="4932807">
                  <a:moveTo>
                    <a:pt x="4932807" y="9998964"/>
                  </a:moveTo>
                  <a:lnTo>
                    <a:pt x="0" y="9998964"/>
                  </a:lnTo>
                  <a:lnTo>
                    <a:pt x="0" y="0"/>
                  </a:lnTo>
                  <a:lnTo>
                    <a:pt x="4932807" y="0"/>
                  </a:lnTo>
                  <a:lnTo>
                    <a:pt x="4932807" y="9998964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1025" y="794442"/>
            <a:ext cx="3905101" cy="56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131" spc="-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Where You Use 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1025" y="1468398"/>
            <a:ext cx="7249567" cy="352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7" indent="-345444" lvl="1">
              <a:lnSpc>
                <a:spcPts val="7168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Web apps: ASP.NET </a:t>
            </a:r>
            <a:r>
              <a:rPr lang="en-US" sz="3200" spc="-9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Core, Blazor</a:t>
            </a:r>
          </a:p>
          <a:p>
            <a:pPr algn="l" marL="690887" indent="-345444" lvl="1">
              <a:lnSpc>
                <a:spcPts val="7168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APIs: Minimal APIs (lightweight &amp; fast)</a:t>
            </a:r>
          </a:p>
          <a:p>
            <a:pPr algn="l" marL="690887" indent="-345444" lvl="1">
              <a:lnSpc>
                <a:spcPts val="7168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Desktop: .NET MAUI, Windows apps</a:t>
            </a:r>
          </a:p>
          <a:p>
            <a:pPr algn="l" marL="690887" indent="-345444" lvl="1">
              <a:lnSpc>
                <a:spcPts val="7168"/>
              </a:lnSpc>
              <a:buFont typeface="Arial"/>
              <a:buChar char="•"/>
            </a:pPr>
            <a:r>
              <a:rPr lang="en-US" sz="3200" spc="-9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Cloud: Containers, serverless apps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9508" y="297875"/>
            <a:ext cx="1308761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What’s New? – ASP.NET Core &amp; Web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7548" y="1752600"/>
            <a:ext cx="8496452" cy="339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238" indent="-246746" lvl="2">
              <a:lnSpc>
                <a:spcPts val="3885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Modern Web Development</a:t>
            </a:r>
          </a:p>
          <a:p>
            <a:pPr algn="l" marL="740238" indent="-246746" lvl="2">
              <a:lnSpc>
                <a:spcPts val="3885"/>
              </a:lnSpc>
            </a:pPr>
          </a:p>
          <a:p>
            <a:pPr algn="l" marL="740238" indent="-246746" lvl="2">
              <a:lnSpc>
                <a:spcPts val="3885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Minimal APIs with better diagnostics</a:t>
            </a:r>
          </a:p>
          <a:p>
            <a:pPr algn="l" marL="740238" indent="-246746" lvl="2">
              <a:lnSpc>
                <a:spcPts val="3885"/>
              </a:lnSpc>
            </a:pPr>
          </a:p>
          <a:p>
            <a:pPr algn="l" marL="740238" indent="-246746" lvl="2">
              <a:lnSpc>
                <a:spcPts val="3885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Improved tooling for faster development</a:t>
            </a:r>
          </a:p>
          <a:p>
            <a:pPr algn="l" marL="740238" indent="-246746" lvl="2">
              <a:lnSpc>
                <a:spcPts val="3885"/>
              </a:lnSpc>
            </a:pPr>
          </a:p>
          <a:p>
            <a:pPr algn="l" marL="740238" indent="-246746" lvl="2">
              <a:lnSpc>
                <a:spcPts val="3885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Enhanced Blazor for interactivity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9508" y="297875"/>
            <a:ext cx="1308761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C# 14 Fe</a:t>
            </a: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ature 1: Extension Members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7548" y="1524000"/>
            <a:ext cx="8496452" cy="226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238" indent="-246746" lvl="2">
              <a:lnSpc>
                <a:spcPts val="6217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roup extensions into one block</a:t>
            </a:r>
          </a:p>
          <a:p>
            <a:pPr algn="l" marL="740235" indent="-246745" lvl="2">
              <a:lnSpc>
                <a:spcPts val="6217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methods + properties together</a:t>
            </a:r>
          </a:p>
          <a:p>
            <a:pPr algn="l" marL="740238" indent="-246746" lvl="2">
              <a:lnSpc>
                <a:spcPts val="6217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Cleaner and organized code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9508" y="297875"/>
            <a:ext cx="1308761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C# 14 Fe</a:t>
            </a: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ature 2: field Keyword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7548" y="1524000"/>
            <a:ext cx="8496452" cy="226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238" indent="-246746" lvl="2">
              <a:lnSpc>
                <a:spcPts val="6217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</a:t>
            </a: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ess auto-property backing field</a:t>
            </a:r>
          </a:p>
          <a:p>
            <a:pPr algn="l" marL="740238" indent="-246746" lvl="2">
              <a:lnSpc>
                <a:spcPts val="6217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 need for manual variables</a:t>
            </a:r>
          </a:p>
          <a:p>
            <a:pPr algn="l" marL="740238" indent="-246746" lvl="2">
              <a:lnSpc>
                <a:spcPts val="6217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Reduces boilerplate code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9508" y="297875"/>
            <a:ext cx="1606056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C# 14 Fe</a:t>
            </a: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ature 3: Null-Conditional Assignment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7548" y="1524000"/>
            <a:ext cx="8496452" cy="226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239" indent="-246746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Assign values safely using ?.</a:t>
            </a:r>
          </a:p>
          <a:p>
            <a:pPr algn="l" marL="740239" indent="-246746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Avoid null reference errors</a:t>
            </a:r>
          </a:p>
          <a:p>
            <a:pPr algn="l" marL="740239" indent="-246746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Cleaner defensive code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9508" y="297875"/>
            <a:ext cx="15874751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C# 14 Fe</a:t>
            </a: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ature 4: Lambda Improvements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7548" y="1524000"/>
            <a:ext cx="8496452" cy="226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239" indent="-246746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ref, out, in in lambdas</a:t>
            </a:r>
          </a:p>
          <a:p>
            <a:pPr algn="l" marL="740239" indent="-246746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Better readability</a:t>
            </a:r>
          </a:p>
          <a:p>
            <a:pPr algn="l" marL="740239" indent="-246746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Supports inferred types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9508" y="297875"/>
            <a:ext cx="1308761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C# 14 Fe</a:t>
            </a: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ature 5 &amp; 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7548" y="1524000"/>
            <a:ext cx="9693889" cy="226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239" indent="-246746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nameof(List&lt;&gt;) works without type arguments</a:t>
            </a:r>
          </a:p>
          <a:p>
            <a:pPr algn="l" marL="740239" indent="-246746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Custom operators like += supported</a:t>
            </a:r>
          </a:p>
          <a:p>
            <a:pPr algn="l" marL="740239" indent="-246746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Improves readability &amp; control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1500" y="629431"/>
            <a:ext cx="9324529" cy="105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2"/>
              </a:lnSpc>
            </a:pPr>
            <a:r>
              <a:rPr lang="en-US" sz="7912" spc="-23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What’s New? – C# 14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00068" y="2214542"/>
          <a:ext cx="15481300" cy="6248400"/>
        </p:xfrm>
        <a:graphic>
          <a:graphicData uri="http://schemas.openxmlformats.org/drawingml/2006/table">
            <a:tbl>
              <a:tblPr/>
              <a:tblGrid>
                <a:gridCol w="5331924"/>
                <a:gridCol w="10149376"/>
              </a:tblGrid>
              <a:tr h="1041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Feature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22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Benefit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229D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Extension Members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Add methods to existing types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Null-Conditional Assignment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Assign values only when not null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nameof Unbound Generics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Reference generic types easily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Span Conversions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Implicit array/string to Span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Lambda Modifiers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Support ref / in / out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01514" y="-36233"/>
            <a:ext cx="6786543" cy="10323271"/>
          </a:xfrm>
          <a:custGeom>
            <a:avLst/>
            <a:gdLst/>
            <a:ahLst/>
            <a:cxnLst/>
            <a:rect r="r" b="b" t="t" l="l"/>
            <a:pathLst>
              <a:path h="10323271" w="6786543">
                <a:moveTo>
                  <a:pt x="0" y="0"/>
                </a:moveTo>
                <a:lnTo>
                  <a:pt x="6786543" y="0"/>
                </a:lnTo>
                <a:lnTo>
                  <a:pt x="6786543" y="10323271"/>
                </a:lnTo>
                <a:lnTo>
                  <a:pt x="0" y="10323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53139" y="1147391"/>
            <a:ext cx="3372450" cy="7261793"/>
            <a:chOff x="0" y="0"/>
            <a:chExt cx="4496600" cy="96823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6689" cy="9682353"/>
            </a:xfrm>
            <a:custGeom>
              <a:avLst/>
              <a:gdLst/>
              <a:ahLst/>
              <a:cxnLst/>
              <a:rect r="r" b="b" t="t" l="l"/>
              <a:pathLst>
                <a:path h="9682353" w="4496689">
                  <a:moveTo>
                    <a:pt x="3913759" y="9682353"/>
                  </a:moveTo>
                  <a:lnTo>
                    <a:pt x="590550" y="9682353"/>
                  </a:lnTo>
                  <a:cubicBezTo>
                    <a:pt x="264414" y="9682353"/>
                    <a:pt x="0" y="9417939"/>
                    <a:pt x="0" y="9091803"/>
                  </a:cubicBezTo>
                  <a:lnTo>
                    <a:pt x="0" y="569722"/>
                  </a:lnTo>
                  <a:cubicBezTo>
                    <a:pt x="0" y="255016"/>
                    <a:pt x="255016" y="0"/>
                    <a:pt x="569722" y="0"/>
                  </a:cubicBezTo>
                  <a:lnTo>
                    <a:pt x="3939159" y="0"/>
                  </a:lnTo>
                  <a:cubicBezTo>
                    <a:pt x="4247007" y="0"/>
                    <a:pt x="4496689" y="249555"/>
                    <a:pt x="4496689" y="557530"/>
                  </a:cubicBezTo>
                  <a:lnTo>
                    <a:pt x="4496689" y="9099550"/>
                  </a:lnTo>
                  <a:cubicBezTo>
                    <a:pt x="4496689" y="9421368"/>
                    <a:pt x="4235704" y="9682353"/>
                    <a:pt x="3913886" y="9682353"/>
                  </a:cubicBezTo>
                  <a:close/>
                </a:path>
              </a:pathLst>
            </a:custGeom>
            <a:blipFill>
              <a:blip r:embed="rId4"/>
              <a:stretch>
                <a:fillRect l="-2952" t="0" r="-295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994900" y="1028700"/>
            <a:ext cx="3699615" cy="7499223"/>
            <a:chOff x="0" y="0"/>
            <a:chExt cx="4932820" cy="99989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32807" cy="9998964"/>
            </a:xfrm>
            <a:custGeom>
              <a:avLst/>
              <a:gdLst/>
              <a:ahLst/>
              <a:cxnLst/>
              <a:rect r="r" b="b" t="t" l="l"/>
              <a:pathLst>
                <a:path h="9998964" w="4932807">
                  <a:moveTo>
                    <a:pt x="4932807" y="9998964"/>
                  </a:moveTo>
                  <a:lnTo>
                    <a:pt x="0" y="9998964"/>
                  </a:lnTo>
                  <a:lnTo>
                    <a:pt x="0" y="0"/>
                  </a:lnTo>
                  <a:lnTo>
                    <a:pt x="4932807" y="0"/>
                  </a:lnTo>
                  <a:lnTo>
                    <a:pt x="4932807" y="9998964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46589" y="4289308"/>
            <a:ext cx="884549" cy="884549"/>
          </a:xfrm>
          <a:custGeom>
            <a:avLst/>
            <a:gdLst/>
            <a:ahLst/>
            <a:cxnLst/>
            <a:rect r="r" b="b" t="t" l="l"/>
            <a:pathLst>
              <a:path h="884549" w="884549">
                <a:moveTo>
                  <a:pt x="0" y="0"/>
                </a:moveTo>
                <a:lnTo>
                  <a:pt x="884548" y="0"/>
                </a:lnTo>
                <a:lnTo>
                  <a:pt x="884548" y="884548"/>
                </a:lnTo>
                <a:lnTo>
                  <a:pt x="0" y="8845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6589" y="6316847"/>
            <a:ext cx="884549" cy="884549"/>
          </a:xfrm>
          <a:custGeom>
            <a:avLst/>
            <a:gdLst/>
            <a:ahLst/>
            <a:cxnLst/>
            <a:rect r="r" b="b" t="t" l="l"/>
            <a:pathLst>
              <a:path h="884549" w="884549">
                <a:moveTo>
                  <a:pt x="0" y="0"/>
                </a:moveTo>
                <a:lnTo>
                  <a:pt x="884548" y="0"/>
                </a:lnTo>
                <a:lnTo>
                  <a:pt x="884548" y="884548"/>
                </a:lnTo>
                <a:lnTo>
                  <a:pt x="0" y="8845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6589" y="2143293"/>
            <a:ext cx="884549" cy="653738"/>
          </a:xfrm>
          <a:custGeom>
            <a:avLst/>
            <a:gdLst/>
            <a:ahLst/>
            <a:cxnLst/>
            <a:rect r="r" b="b" t="t" l="l"/>
            <a:pathLst>
              <a:path h="653738" w="884549">
                <a:moveTo>
                  <a:pt x="0" y="0"/>
                </a:moveTo>
                <a:lnTo>
                  <a:pt x="884548" y="0"/>
                </a:lnTo>
                <a:lnTo>
                  <a:pt x="884548" y="653738"/>
                </a:lnTo>
                <a:lnTo>
                  <a:pt x="0" y="6537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1025" y="794442"/>
            <a:ext cx="8912572" cy="56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131" spc="-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Why .NET 10 Matters – Market Demand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26895" y="4372013"/>
            <a:ext cx="4684068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spc="-1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Enterprise Stability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26895" y="5157178"/>
            <a:ext cx="717798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Large companies prefer LTS platforms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26895" y="6399552"/>
            <a:ext cx="374853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spc="-1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Cost Efficiency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26895" y="7184727"/>
            <a:ext cx="711904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High performance = lower cloud costs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26895" y="2092404"/>
            <a:ext cx="367203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spc="-1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Career Growth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26895" y="3131982"/>
            <a:ext cx="859035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High demand for backend &amp; cloud developers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01457" y="-17116"/>
            <a:ext cx="6786543" cy="10304116"/>
          </a:xfrm>
          <a:custGeom>
            <a:avLst/>
            <a:gdLst/>
            <a:ahLst/>
            <a:cxnLst/>
            <a:rect r="r" b="b" t="t" l="l"/>
            <a:pathLst>
              <a:path h="10304116" w="6786543">
                <a:moveTo>
                  <a:pt x="0" y="0"/>
                </a:moveTo>
                <a:lnTo>
                  <a:pt x="6786543" y="0"/>
                </a:lnTo>
                <a:lnTo>
                  <a:pt x="6786543" y="10304116"/>
                </a:lnTo>
                <a:lnTo>
                  <a:pt x="0" y="10304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53139" y="1147391"/>
            <a:ext cx="3372450" cy="7261793"/>
            <a:chOff x="0" y="0"/>
            <a:chExt cx="4496600" cy="96823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6689" cy="9682353"/>
            </a:xfrm>
            <a:custGeom>
              <a:avLst/>
              <a:gdLst/>
              <a:ahLst/>
              <a:cxnLst/>
              <a:rect r="r" b="b" t="t" l="l"/>
              <a:pathLst>
                <a:path h="9682353" w="4496689">
                  <a:moveTo>
                    <a:pt x="3913759" y="9682353"/>
                  </a:moveTo>
                  <a:lnTo>
                    <a:pt x="590550" y="9682353"/>
                  </a:lnTo>
                  <a:cubicBezTo>
                    <a:pt x="264414" y="9682353"/>
                    <a:pt x="0" y="9417939"/>
                    <a:pt x="0" y="9091803"/>
                  </a:cubicBezTo>
                  <a:lnTo>
                    <a:pt x="0" y="569722"/>
                  </a:lnTo>
                  <a:cubicBezTo>
                    <a:pt x="0" y="255016"/>
                    <a:pt x="255016" y="0"/>
                    <a:pt x="569722" y="0"/>
                  </a:cubicBezTo>
                  <a:lnTo>
                    <a:pt x="3939159" y="0"/>
                  </a:lnTo>
                  <a:cubicBezTo>
                    <a:pt x="4247007" y="0"/>
                    <a:pt x="4496689" y="249555"/>
                    <a:pt x="4496689" y="557530"/>
                  </a:cubicBezTo>
                  <a:lnTo>
                    <a:pt x="4496689" y="9099550"/>
                  </a:lnTo>
                  <a:cubicBezTo>
                    <a:pt x="4496689" y="9421368"/>
                    <a:pt x="4235704" y="9682353"/>
                    <a:pt x="3913886" y="9682353"/>
                  </a:cubicBezTo>
                  <a:close/>
                </a:path>
              </a:pathLst>
            </a:custGeom>
            <a:blipFill>
              <a:blip r:embed="rId4"/>
              <a:stretch>
                <a:fillRect l="-90096" t="0" r="-90093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994900" y="1028700"/>
            <a:ext cx="3699615" cy="7499223"/>
            <a:chOff x="0" y="0"/>
            <a:chExt cx="4932820" cy="99989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32807" cy="9998964"/>
            </a:xfrm>
            <a:custGeom>
              <a:avLst/>
              <a:gdLst/>
              <a:ahLst/>
              <a:cxnLst/>
              <a:rect r="r" b="b" t="t" l="l"/>
              <a:pathLst>
                <a:path h="9998964" w="4932807">
                  <a:moveTo>
                    <a:pt x="4932807" y="9998964"/>
                  </a:moveTo>
                  <a:lnTo>
                    <a:pt x="0" y="9998964"/>
                  </a:lnTo>
                  <a:lnTo>
                    <a:pt x="0" y="0"/>
                  </a:lnTo>
                  <a:lnTo>
                    <a:pt x="4932807" y="0"/>
                  </a:lnTo>
                  <a:lnTo>
                    <a:pt x="4932807" y="9998964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0550" y="4372013"/>
            <a:ext cx="331306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spc="-1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Roles Aligned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0550" y="5157178"/>
            <a:ext cx="633243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Backend Engineer, API Developer, Cloud Specialist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0550" y="6399552"/>
            <a:ext cx="424398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spc="-1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Portfolio Projects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0550" y="7184727"/>
            <a:ext cx="707201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REST APIs, dashboards, microservices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1025" y="2174091"/>
            <a:ext cx="63563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spc="-1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Build a Strong Foundation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0550" y="3131982"/>
            <a:ext cx="870585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Industry-standard skill for enterprises 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&amp; product companies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1025" y="794442"/>
            <a:ext cx="8177957" cy="56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131" spc="-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Why .NET 10 Matters – For Students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01457" y="-17078"/>
            <a:ext cx="6786543" cy="10304116"/>
          </a:xfrm>
          <a:custGeom>
            <a:avLst/>
            <a:gdLst/>
            <a:ahLst/>
            <a:cxnLst/>
            <a:rect r="r" b="b" t="t" l="l"/>
            <a:pathLst>
              <a:path h="10304116" w="6786543">
                <a:moveTo>
                  <a:pt x="0" y="0"/>
                </a:moveTo>
                <a:lnTo>
                  <a:pt x="6786543" y="0"/>
                </a:lnTo>
                <a:lnTo>
                  <a:pt x="6786543" y="10304116"/>
                </a:lnTo>
                <a:lnTo>
                  <a:pt x="0" y="10304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53139" y="1147391"/>
            <a:ext cx="3372450" cy="7261793"/>
            <a:chOff x="0" y="0"/>
            <a:chExt cx="4496600" cy="96823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6689" cy="9682353"/>
            </a:xfrm>
            <a:custGeom>
              <a:avLst/>
              <a:gdLst/>
              <a:ahLst/>
              <a:cxnLst/>
              <a:rect r="r" b="b" t="t" l="l"/>
              <a:pathLst>
                <a:path h="9682353" w="4496689">
                  <a:moveTo>
                    <a:pt x="3913759" y="9682353"/>
                  </a:moveTo>
                  <a:lnTo>
                    <a:pt x="590550" y="9682353"/>
                  </a:lnTo>
                  <a:cubicBezTo>
                    <a:pt x="264414" y="9682353"/>
                    <a:pt x="0" y="9417939"/>
                    <a:pt x="0" y="9091803"/>
                  </a:cubicBezTo>
                  <a:lnTo>
                    <a:pt x="0" y="569722"/>
                  </a:lnTo>
                  <a:cubicBezTo>
                    <a:pt x="0" y="255016"/>
                    <a:pt x="255016" y="0"/>
                    <a:pt x="569722" y="0"/>
                  </a:cubicBezTo>
                  <a:lnTo>
                    <a:pt x="3939159" y="0"/>
                  </a:lnTo>
                  <a:cubicBezTo>
                    <a:pt x="4247007" y="0"/>
                    <a:pt x="4496689" y="249555"/>
                    <a:pt x="4496689" y="557530"/>
                  </a:cubicBezTo>
                  <a:lnTo>
                    <a:pt x="4496689" y="9099550"/>
                  </a:lnTo>
                  <a:cubicBezTo>
                    <a:pt x="4496689" y="9421368"/>
                    <a:pt x="4235704" y="9682353"/>
                    <a:pt x="3913886" y="9682353"/>
                  </a:cubicBezTo>
                  <a:close/>
                </a:path>
              </a:pathLst>
            </a:custGeom>
            <a:blipFill>
              <a:blip r:embed="rId4"/>
              <a:stretch>
                <a:fillRect l="-58953" t="0" r="-5895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994900" y="1028700"/>
            <a:ext cx="3699615" cy="7499223"/>
            <a:chOff x="0" y="0"/>
            <a:chExt cx="4932820" cy="99989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32807" cy="9998964"/>
            </a:xfrm>
            <a:custGeom>
              <a:avLst/>
              <a:gdLst/>
              <a:ahLst/>
              <a:cxnLst/>
              <a:rect r="r" b="b" t="t" l="l"/>
              <a:pathLst>
                <a:path h="9998964" w="4932807">
                  <a:moveTo>
                    <a:pt x="4932807" y="9998964"/>
                  </a:moveTo>
                  <a:lnTo>
                    <a:pt x="0" y="9998964"/>
                  </a:lnTo>
                  <a:lnTo>
                    <a:pt x="0" y="0"/>
                  </a:lnTo>
                  <a:lnTo>
                    <a:pt x="4932807" y="0"/>
                  </a:lnTo>
                  <a:lnTo>
                    <a:pt x="4932807" y="9998964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1025" y="3886238"/>
            <a:ext cx="452005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spc="-1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Cost Optimization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1025" y="4671403"/>
            <a:ext cx="618336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Reduces infrastructure overhead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1025" y="5428002"/>
            <a:ext cx="533667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spc="-1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Career Advancement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1025" y="2174091"/>
            <a:ext cx="4398318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spc="-1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Risk Management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1025" y="6390808"/>
            <a:ext cx="925636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Path to Senior Backend Engineer, Cloud Architect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1025" y="3131982"/>
            <a:ext cx="617309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Safe for mission-critical systems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1025" y="794442"/>
            <a:ext cx="9100989" cy="56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131" spc="-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Why .NET 10 Matters – For Professionals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9508" y="297875"/>
            <a:ext cx="1308761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terview Questions &amp; Tips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7548" y="1524000"/>
            <a:ext cx="9693889" cy="382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235" indent="-246745" lvl="2">
              <a:lnSpc>
                <a:spcPts val="6217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C# vs .NET?</a:t>
            </a:r>
          </a:p>
          <a:p>
            <a:pPr algn="l" marL="740235" indent="-246745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ea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o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C#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14?</a:t>
            </a:r>
          </a:p>
          <a:p>
            <a:pPr algn="l" marL="740235" indent="-246745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LR?</a:t>
            </a:r>
          </a:p>
          <a:p>
            <a:pPr algn="l" marL="740235" indent="-246745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 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Min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imal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API?</a:t>
            </a:r>
          </a:p>
          <a:p>
            <a:pPr algn="l" marL="740239" indent="-246746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.NET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 LTS?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9508" y="297875"/>
            <a:ext cx="1308761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Summa</a:t>
            </a:r>
            <a:r>
              <a:rPr lang="en-US" sz="6000" spc="-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7548" y="1524000"/>
            <a:ext cx="9693889" cy="382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235" indent="-246745" lvl="2">
              <a:lnSpc>
                <a:spcPts val="6217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C# = language</a:t>
            </a:r>
          </a:p>
          <a:p>
            <a:pPr algn="l" marL="740235" indent="-246745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.NET 10 =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pl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atform (LTS)</a:t>
            </a:r>
          </a:p>
          <a:p>
            <a:pPr algn="l" marL="740235" indent="-246745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Used in Web, API, Desktop, C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loud</a:t>
            </a:r>
          </a:p>
          <a:p>
            <a:pPr algn="l" marL="740235" indent="-246745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# 14 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simpl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fie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coding</a:t>
            </a:r>
          </a:p>
          <a:p>
            <a:pPr algn="l" marL="740239" indent="-246746" lvl="2">
              <a:lnSpc>
                <a:spcPts val="6217"/>
              </a:lnSpc>
              <a:spcBef>
                <a:spcPct val="0"/>
              </a:spcBef>
              <a:buFont typeface="Arial"/>
              <a:buChar char="⚬"/>
            </a:pP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ter setup with sin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gle-f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ile </a:t>
            </a:r>
            <a:r>
              <a:rPr lang="en-US" sz="323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execution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2094" y="4413609"/>
            <a:ext cx="13123813" cy="150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37"/>
              </a:lnSpc>
            </a:pPr>
            <a:r>
              <a:rPr lang="en-US" sz="11337" spc="-34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Thanks for Watching!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059272" y="9620012"/>
            <a:ext cx="1570881" cy="3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Infosyntax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1148" y="9647263"/>
            <a:ext cx="1863328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.NET 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12930" y="9113072"/>
            <a:ext cx="4262140" cy="293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217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Like, Subscribe &amp; Hit the Bell Icon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DAHEf4rFV9g</dc:identifier>
  <dcterms:modified xsi:type="dcterms:W3CDTF">2011-08-01T06:04:30Z</dcterms:modified>
  <cp:revision>1</cp:revision>
  <dc:title>Video 1 - Introduction to C# 14 &amp; .NET 10</dc:title>
</cp:coreProperties>
</file>